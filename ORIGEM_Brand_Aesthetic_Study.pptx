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029200" y="45720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-914400" y="2743200"/>
            <a:ext cx="3657600" cy="3657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200" kern="0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ORIGEM</a:t>
            </a:r>
            <a:endParaRPr lang="en-US" sz="6400" dirty="0"/>
          </a:p>
        </p:txBody>
      </p:sp>
      <p:sp>
        <p:nvSpPr>
          <p:cNvPr id="5" name="Text 1"/>
          <p:cNvSpPr/>
          <p:nvPr/>
        </p:nvSpPr>
        <p:spPr>
          <a:xfrm>
            <a:off x="731520" y="2103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B8CD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 Aesthetic Study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731520" y="2926080"/>
            <a:ext cx="2743200" cy="0"/>
          </a:xfrm>
          <a:prstGeom prst="line">
            <a:avLst/>
          </a:prstGeom>
          <a:noFill/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Glass  ·  Visual Identity  ·  Brandbook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486400" y="18288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ORIGEM?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10972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somos um produto.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Somos a nova superfície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 o humano e o futuro.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3291840"/>
            <a:ext cx="2286000" cy="0"/>
          </a:xfrm>
          <a:prstGeom prst="line">
            <a:avLst/>
          </a:prstGeom>
          <a:noFill/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5661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Origem é infraestrutura invisível que faz o impossível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parecer inevitável. Cada superfície, cada interação, cada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pixel comunica uma única mensagem: o futuro já chegou.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5943600" y="9144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-457200" y="320040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GLASS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31520" y="914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Estética que Define Origem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731520" y="1828800"/>
            <a:ext cx="5029200" cy="914400"/>
          </a:xfrm>
          <a:prstGeom prst="roundRect">
            <a:avLst>
              <a:gd name="adj" fmla="val 15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0574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087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Translucidez Inteligente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50876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Camadas revelam profundidade mantendo hierarquia visual. Não é transparência — é intenção.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731520" y="2880360"/>
            <a:ext cx="5029200" cy="914400"/>
          </a:xfrm>
          <a:prstGeom prst="roundRect">
            <a:avLst>
              <a:gd name="adj" fmla="val 15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08960"/>
            <a:ext cx="411480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0876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Refração Dinâmica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50876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Efeitos de luz que respondem ao contexto. O vidro interage com a cena, não apenas a decora.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731520" y="3931920"/>
            <a:ext cx="5029200" cy="914400"/>
          </a:xfrm>
          <a:prstGeom prst="roundRect">
            <a:avLst>
              <a:gd name="adj" fmla="val 15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60520"/>
            <a:ext cx="411480" cy="411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0876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Adaptativo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508760" y="4389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 ajusta blur, opacidade e tint automaticamente. Legibilidade nunca é comprometida.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GLASSMORPHISM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Liquid Glass é diferente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87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87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GLASSMORPHISM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B8C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GLASS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Blur estático + transparência simples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Fisicamente precisa, lensing dinâmico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Opacidade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Fixa por componente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Variável, adaptativa ao contexto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Backdrop blur apenas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Specular highlights, reflexos reais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Passiva, decorativa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Ativa, responsiva ao usuário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Legibilidade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Contraste fixo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 tint/opacidade ao background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Liquid Glass não é um estilo. É um material vivo que reage, adapta e comunica.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6400800" y="-4572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DNA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Princípios Inegociáveis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737360"/>
            <a:ext cx="3749040" cy="1371600"/>
          </a:xfrm>
          <a:prstGeom prst="roundRect">
            <a:avLst>
              <a:gd name="adj" fmla="val 1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 por Remoção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14400" y="2377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elemento ganha o direito de existir. Se não pode ser mais simples, é removido.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54880" y="1737360"/>
            <a:ext cx="3749040" cy="1371600"/>
          </a:xfrm>
          <a:prstGeom prst="roundRect">
            <a:avLst>
              <a:gd name="adj" fmla="val 1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202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4068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Funcional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937760" y="2377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 serve função absolutamente. Estética emerge da solução de problemas reais.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31520" y="3291840"/>
            <a:ext cx="3749040" cy="1371600"/>
          </a:xfrm>
          <a:prstGeom prst="roundRect">
            <a:avLst>
              <a:gd name="adj" fmla="val 1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Obsessiva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914400" y="3931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touchpoint reforça o mesmo sentimento. Logo, cantos, materiais — tudo conectado.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754880" y="3291840"/>
            <a:ext cx="3749040" cy="1371600"/>
          </a:xfrm>
          <a:prstGeom prst="roundRect">
            <a:avLst>
              <a:gd name="adj" fmla="val 1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4747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4068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de Ecossistema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937760" y="3931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produto torna os outros mais valiosos. Hardware + software + serviços integrados.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Paleta Origem — Liquid Glass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8080F"/>
          </a:solidFill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#08080F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F0F1A"/>
          </a:solidFill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#0F0F1A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C1C35"/>
          </a:solidFill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#1C1C35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73736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7B8CDE"/>
          </a:solidFill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Glow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#7B8CDE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4ECDC4"/>
          </a:solidFill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Fluid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#4ECDC4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34747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A78BFA"/>
          </a:solidFill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Amethyst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#A78BFA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4747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Gold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347472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0F0F5"/>
          </a:solidFill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#F0F0F5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6858000" y="182880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Hierarquia Tipográfica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103120" y="1645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Origem redefine.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31520" y="2286000"/>
            <a:ext cx="6858000" cy="0"/>
          </a:xfrm>
          <a:prstGeom prst="line">
            <a:avLst/>
          </a:prstGeom>
          <a:noFill/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10312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futuro já chegou.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31520" y="2971800"/>
            <a:ext cx="6858000" cy="0"/>
          </a:xfrm>
          <a:prstGeom prst="line">
            <a:avLst/>
          </a:prstGeom>
          <a:noFill/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0312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pixel comunica intenção. Cada interação revela propósito.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1520" y="3657600"/>
            <a:ext cx="6858000" cy="0"/>
          </a:xfrm>
          <a:prstGeom prst="line">
            <a:avLst/>
          </a:prstGeom>
          <a:noFill/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10312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·  ORIGEM 2026  ·  INTERNAL USE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4297680"/>
            <a:ext cx="7315200" cy="548640"/>
          </a:xfrm>
          <a:prstGeom prst="roundRect">
            <a:avLst>
              <a:gd name="adj" fmla="val 25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389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Trebuchet MS Bold 36-64pt  |  Heading: Trebuchet MS Bold 24-30pt  |  Body: Calibri Light 14-16pt  |  Caption: Calibri 10-11pt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ESPAÇAMENTO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Espacial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680960" cy="685800"/>
          </a:xfrm>
          <a:prstGeom prst="roundRect">
            <a:avLst>
              <a:gd name="adj" fmla="val 2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8C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8px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3040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UNIT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175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Todo espaçamento em múltiplos de 8. Harmonia matemática.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560320"/>
            <a:ext cx="7680960" cy="685800"/>
          </a:xfrm>
          <a:prstGeom prst="roundRect">
            <a:avLst>
              <a:gd name="adj" fmla="val 2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97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33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8C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44×44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463040" y="2944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017520" y="2697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Mínimo para interações. Sinaliza confiança no design.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383280"/>
            <a:ext cx="7680960" cy="685800"/>
          </a:xfrm>
          <a:prstGeom prst="roundRect">
            <a:avLst>
              <a:gd name="adj" fmla="val 2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04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56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8C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40-50%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463040" y="3767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017520" y="3520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 layout pode ser vazio. Espaço é material de design, não ausência.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4206240"/>
            <a:ext cx="7680960" cy="685800"/>
          </a:xfrm>
          <a:prstGeom prst="roundRect">
            <a:avLst>
              <a:gd name="adj" fmla="val 2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434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279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8C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0.8"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463040" y="4590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017520" y="4343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Mínimo nas bordas. Respiro generoso = percepção premium.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400800" y="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Direção Visual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Iluminação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292608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Suave, direcional (lateral ou superior). Profundidade por luz, não por filtro. Nunca flash direto.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42316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444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292608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Neutro: branco puro, dark profundo, ou gradiente sutil. O produto é o herói, nunca o cenário.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6324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Ângulo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292608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Levemente elevado. Sugere aspiração, não dominação. Consistência é regra entre todos os shots.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0332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292608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Produto ocupa 60-70% do frame. Dominância visual sem claustrofobia. Respiro nas bordas.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4340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23444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2926080" y="4297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Mostrar texturas reais: metal escovado, vidro, cerâmica. Macro shots dos detalhes de acabamento.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914400" y="9144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MOVIMENTO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 como Ativo de Marca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645920"/>
            <a:ext cx="7680960" cy="685800"/>
          </a:xfrm>
          <a:prstGeom prst="roundRect">
            <a:avLst>
              <a:gd name="adj" fmla="val 2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300-500ms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Ease-in/out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926080" y="17556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Transições primárias. Nunca linear — orgânico e intencional.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468880"/>
            <a:ext cx="7680960" cy="685800"/>
          </a:xfrm>
          <a:prstGeom prst="roundRect">
            <a:avLst>
              <a:gd name="adj" fmla="val 2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Sempre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2852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26080" y="25786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animação comunica: loading, sucesso, erro, mudança de estado.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291840"/>
            <a:ext cx="7680960" cy="685800"/>
          </a:xfrm>
          <a:prstGeom prst="roundRect">
            <a:avLst>
              <a:gd name="adj" fmla="val 2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100ms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1440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26080" y="34015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Motion que reage ao input do usuário. Sentir, não assistir.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7680960" cy="685800"/>
          </a:xfrm>
          <a:prstGeom prst="roundRect">
            <a:avLst>
              <a:gd name="adj" fmla="val 2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Golden rule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4498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Sutileza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926080" y="4224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 o usuário nota a animação conscientemente, está excessiva.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943600" y="4572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&amp; TOM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Origem Fala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286000" y="1737360"/>
            <a:ext cx="2926080" cy="594360"/>
          </a:xfrm>
          <a:prstGeom prst="roundRect">
            <a:avLst>
              <a:gd name="adj" fmla="val 23077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isso.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1737360"/>
            <a:ext cx="2926080" cy="594360"/>
          </a:xfrm>
          <a:prstGeom prst="roundRect">
            <a:avLst>
              <a:gd name="adj" fmla="val 23077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8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Ajuda você a fazer isso.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0" y="2514600"/>
            <a:ext cx="2926080" cy="594360"/>
          </a:xfrm>
          <a:prstGeom prst="roundRect">
            <a:avLst>
              <a:gd name="adj" fmla="val 23077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 mais rápido.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394960" y="2514600"/>
            <a:ext cx="2926080" cy="594360"/>
          </a:xfrm>
          <a:prstGeom prst="roundRect">
            <a:avLst>
              <a:gd name="adj" fmla="val 23077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8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Significativamente mais rápido.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86000" y="3291840"/>
            <a:ext cx="2926080" cy="594360"/>
          </a:xfrm>
          <a:prstGeom prst="roundRect">
            <a:avLst>
              <a:gd name="adj" fmla="val 23077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6888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 é aqui.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94960" y="3291840"/>
            <a:ext cx="2926080" cy="594360"/>
          </a:xfrm>
          <a:prstGeom prst="roundRect">
            <a:avLst>
              <a:gd name="adj" fmla="val 23077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8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Estamos trabalhando para melhorar.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286000" y="4069080"/>
            <a:ext cx="2926080" cy="594360"/>
          </a:xfrm>
          <a:prstGeom prst="roundRect">
            <a:avLst>
              <a:gd name="adj" fmla="val 23077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6888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394960" y="4069080"/>
            <a:ext cx="2926080" cy="594360"/>
          </a:xfrm>
          <a:prstGeom prst="roundRect">
            <a:avLst>
              <a:gd name="adj" fmla="val 23077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8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Uma solução fácil de usar.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28600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94960" y="1508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PADRÃO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Escuridão como Premium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#121212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preto puro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Dark gray com calor. Reduz fadiga visual mantendo sensação premium.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07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#E0E0E0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white para texto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3017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Contraste confortável. Funcional para leitura longa sem agressividade.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05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WCAG+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compliance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 para dislexia e astigmatismo. Conforto, não apenas acessibilidade.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as Bilionárias Fazem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87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87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ESTÉTICA-CHAVE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87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FUNCIONA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Clean, centered, luz perfeita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Maestria + confiabilidade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Minimalista, futurista, metálico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Inovação acessível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Data-forward, precisão geométrica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Competência + elegância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UI hiper-polida, dark theme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Craftsmanship em software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0A0B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Transparente, industrial, funcional</a:t>
                      </a:r>
                      <a:endParaRPr lang="en-US" sz="11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Honestidade +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Padrão: Restrição visual + investimento em micro-interações + precisão obsessiva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400800" y="9144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-914400" y="274320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2026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Vai Dominar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731520" y="1737360"/>
            <a:ext cx="3749040" cy="1371600"/>
          </a:xfrm>
          <a:prstGeom prst="roundRect">
            <a:avLst>
              <a:gd name="adj" fmla="val 1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2024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1732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Minimalismo Tátil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914400" y="2377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Não mais frio. Texturas naturais, formas orgânicas, serifas voltando. Humano em era de IA.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754880" y="1737360"/>
            <a:ext cx="3749040" cy="1371600"/>
          </a:xfrm>
          <a:prstGeom prst="roundRect">
            <a:avLst>
              <a:gd name="adj" fmla="val 1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92024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4068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Dimensional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937760" y="2377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Profundidade por opacidade e perspectiva, não drop shadows excessivos. Conteúdo 'flutua'.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731520" y="3291840"/>
            <a:ext cx="3749040" cy="1371600"/>
          </a:xfrm>
          <a:prstGeom prst="roundRect">
            <a:avLst>
              <a:gd name="adj" fmla="val 1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732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Cinética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914400" y="3931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Texto que responde a scroll, hover, estado. Typography como experiência, não decoração.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754880" y="3291840"/>
            <a:ext cx="3749040" cy="1371600"/>
          </a:xfrm>
          <a:prstGeom prst="roundRect">
            <a:avLst>
              <a:gd name="adj" fmla="val 10000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47472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4068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Sensorial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4937760" y="3931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Além do visual: sound design, haptic feedback, texturas digitais. Marca é sentida, não vista.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DESEJABILIDADE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Torna um Produto Sexy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VISUAL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737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Espaço negativo confiante. Headlines oversized. Uma história por seção.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7315200" cy="0"/>
          </a:xfrm>
          <a:prstGeom prst="line">
            <a:avLst/>
          </a:prstGeom>
          <a:noFill/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MATERIAL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Mostrar metais, vidro, cerâmica. Macro shots. Texturas reais, não renderizadas.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7315200" cy="0"/>
          </a:xfrm>
          <a:prstGeom prst="line">
            <a:avLst/>
          </a:prstGeom>
          <a:noFill/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 RADICAL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3017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acento dominante. 40-50% whitespace. Contraste extremo entre título e corpo.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7315200" cy="0"/>
          </a:xfrm>
          <a:prstGeom prst="line">
            <a:avLst/>
          </a:prstGeom>
          <a:noFill/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 TÁTIL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3657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Hover states inteligentes. Feedback que parece físico. Erros humanizados.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7315200" cy="0"/>
          </a:xfrm>
          <a:prstGeom prst="line">
            <a:avLst/>
          </a:prstGeom>
          <a:noFill/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COMO ARMA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Benefício, não feature. Emoção abre, racional fecha. Sem superlativos — claims específicos.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MARCA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em 3 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Logo System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Typography System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Color System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Spacing Grid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Voice &amp; Tone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4688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Photography Direction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Iconography System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Motion Language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Component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Accessibility Standards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1C1C35">
              <a:alpha val="60000"/>
            </a:srgbClr>
          </a:solidFill>
          <a:ln w="6350">
            <a:solidFill>
              <a:srgbClr val="4A4A7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Experiência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Imagery Standards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Interaction Patterns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Responsive Behavior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Sound Design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Packaging / Physical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858000" y="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64592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1C1C35"/>
          </a:solidFill>
          <a:ln w="6350">
            <a:solidFill>
              <a:srgbClr val="7B8CDE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6642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6459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Visual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color system + tipografia + variantes dark mode. Base inquebrável.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1C1C35"/>
          </a:solidFill>
          <a:ln w="6350">
            <a:solidFill>
              <a:srgbClr val="7B8CDE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2128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459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Estrutural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3192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Grid de espaçamento + fundação da component library. Regras espaciais.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74320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1C1C35"/>
          </a:solidFill>
          <a:ln w="6350">
            <a:solidFill>
              <a:srgbClr val="7B8CDE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7614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6459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Criativa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31920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Photography direction + guidelines de voz. Personalidade definida.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329184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1C1C35"/>
          </a:solidFill>
          <a:ln w="6350">
            <a:solidFill>
              <a:srgbClr val="7B8CDE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331012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6459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Movimento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93192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Timing functions, easing curves, padrões de animação. O brand respira.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384048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1C1C35"/>
          </a:solidFill>
          <a:ln w="6350">
            <a:solidFill>
              <a:srgbClr val="7B8CDE">
                <a:alpha val="5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38587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64592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Glass Implementation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93192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Padrões específicos para superfícies glass. Onde usar, onde não usar.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31520" y="438912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1C1C35"/>
          </a:solidFill>
          <a:ln w="6350">
            <a:solidFill>
              <a:srgbClr val="7B8CDE">
                <a:alpha val="5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44074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S6-8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64592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Total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931920" y="4389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 em todos touchpoints: web, mobile, produto, marketing, packaging.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2743200" y="45720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914400" y="1828800"/>
            <a:ext cx="3657600" cy="3657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6400800" y="2743200"/>
            <a:ext cx="3200400" cy="32004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1200" kern="0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ORIGEM</a:t>
            </a:r>
            <a:endParaRPr lang="en-US" sz="6400" dirty="0"/>
          </a:p>
        </p:txBody>
      </p:sp>
      <p:sp>
        <p:nvSpPr>
          <p:cNvPr id="6" name="Shape 1"/>
          <p:cNvSpPr/>
          <p:nvPr/>
        </p:nvSpPr>
        <p:spPr>
          <a:xfrm>
            <a:off x="3200400" y="2560320"/>
            <a:ext cx="2743200" cy="0"/>
          </a:xfrm>
          <a:prstGeom prst="line">
            <a:avLst/>
          </a:prstGeom>
          <a:noFill/>
          <a:ln w="6350">
            <a:solidFill>
              <a:srgbClr val="4A4A70">
                <a:alpha val="40000"/>
              </a:srgbClr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padrão é a excelência.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0A0B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Tudo abaixo disso não existe.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0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AESTHETIC STUDY  ·  V1.0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ORIGEM — Brand Aesthetic Study</dc:title>
  <dc:subject>PptxGenJS Presentation</dc:subject>
  <dc:creator>Origem</dc:creator>
  <cp:lastModifiedBy>Origem</cp:lastModifiedBy>
  <cp:revision>1</cp:revision>
  <dcterms:created xsi:type="dcterms:W3CDTF">2026-03-05T02:48:27Z</dcterms:created>
  <dcterms:modified xsi:type="dcterms:W3CDTF">2026-03-05T02:48:27Z</dcterms:modified>
</cp:coreProperties>
</file>